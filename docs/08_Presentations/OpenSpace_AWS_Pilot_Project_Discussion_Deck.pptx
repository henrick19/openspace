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20" d="100"/>
          <a:sy n="120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">
            <a:extLst>
              <a:ext uri="{FF2B5EF4-FFF2-40B4-BE49-F238E27FC236}">
                <a16:creationId xmlns:a16="http://schemas.microsoft.com/office/drawing/2014/main" id="{FD06CF02-E299-4C14-9072-8CD2BE74B4C8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OPENSPACE × AWS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515BF377-5BB2-46E3-A97D-A3C6C80B7F47}"/>
              </a:ext>
            </a:extLst>
          </p:cNvPr>
          <p:cNvSpPr>
            <a:spLocks noGrp="1"/>
          </p:cNvSpPr>
          <p:nvPr/>
        </p:nvSpPr>
        <p:spPr>
          <a:xfrm>
            <a:off x="457200" y="1714500"/>
            <a:ext cx="85725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950" b="1">
                <a:solidFill>
                  <a:srgbClr val="111111"/>
                </a:solidFill>
              </a:defRPr>
            </a:pPr>
            <a:r>
              <a:rPr sz="4950" b="1">
                <a:solidFill>
                  <a:srgbClr val="111111"/>
                </a:solidFill>
              </a:rPr>
              <a:t>A practical IoT–AI pilot</a:t>
            </a:r>
          </a:p>
          <a:p>
            <a:pPr algn="l">
              <a:defRPr sz="4950" b="1">
                <a:solidFill>
                  <a:srgbClr val="111111"/>
                </a:solidFill>
              </a:defRPr>
            </a:pPr>
            <a:r>
              <a:rPr sz="4950" b="1">
                <a:solidFill>
                  <a:srgbClr val="111111"/>
                </a:solidFill>
              </a:rPr>
              <a:t>for PSB</a:t>
            </a:r>
          </a:p>
        </p:txBody>
      </p:sp>
      <p:sp>
        <p:nvSpPr>
          <p:cNvPr id="3" name="accent-field">
            <a:extLst>
              <a:ext uri="{FF2B5EF4-FFF2-40B4-BE49-F238E27FC236}">
                <a16:creationId xmlns:a16="http://schemas.microsoft.com/office/drawing/2014/main" id="{6365F3D4-259D-4BCD-9BDC-8B878F95D167}"/>
              </a:ext>
            </a:extLst>
          </p:cNvPr>
          <p:cNvSpPr>
            <a:spLocks noGrp="1"/>
          </p:cNvSpPr>
          <p:nvPr/>
        </p:nvSpPr>
        <p:spPr>
          <a:xfrm>
            <a:off x="9296400" y="0"/>
            <a:ext cx="2895600" cy="6858000"/>
          </a:xfrm>
          <a:prstGeom prst="rect">
            <a:avLst/>
          </a:prstGeom>
          <a:solidFill>
            <a:srgbClr val="E5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A93F25A0-BED8-404F-867E-85D5FB3683E5}"/>
              </a:ext>
            </a:extLst>
          </p:cNvPr>
          <p:cNvSpPr>
            <a:spLocks noGrp="1"/>
          </p:cNvSpPr>
          <p:nvPr/>
        </p:nvSpPr>
        <p:spPr>
          <a:xfrm>
            <a:off x="457200" y="4343400"/>
            <a:ext cx="676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0">
                <a:solidFill>
                  <a:srgbClr val="5E6673"/>
                </a:solidFill>
              </a:defRPr>
            </a:pPr>
            <a:r>
              <a:rPr sz="2025" b="0">
                <a:solidFill>
                  <a:srgbClr val="5E6673"/>
                </a:solidFill>
              </a:rPr>
              <a:t>Proposed pilot under the school–AWS collaboration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6B60D26-173D-4BDE-A9A3-0298EB6D5A85}"/>
              </a:ext>
            </a:extLst>
          </p:cNvPr>
          <p:cNvSpPr>
            <a:spLocks noGrp="1"/>
          </p:cNvSpPr>
          <p:nvPr/>
        </p:nvSpPr>
        <p:spPr>
          <a:xfrm>
            <a:off x="9639300" y="4552950"/>
            <a:ext cx="2095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Programme lead</a:t>
            </a:r>
          </a:p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Dr. Julia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34120D0-2A90-4A16-B772-A33AA319BEA4}"/>
              </a:ext>
            </a:extLst>
          </p:cNvPr>
          <p:cNvSpPr>
            <a:spLocks noGrp="1"/>
          </p:cNvSpPr>
          <p:nvPr/>
        </p:nvSpPr>
        <p:spPr>
          <a:xfrm>
            <a:off x="457200" y="5753100"/>
            <a:ext cx="666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E6673"/>
                </a:solidFill>
              </a:defRPr>
            </a:pPr>
            <a:r>
              <a:rPr sz="1275" b="0">
                <a:solidFill>
                  <a:srgbClr val="5E6673"/>
                </a:solidFill>
              </a:rPr>
              <a:t>Discussion with AWS and school leadership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074CC1E3-6D60-40CD-9984-CCF70B36DE28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E6673"/>
                </a:solidFill>
              </a:defRPr>
            </a:pPr>
            <a:r>
              <a:rPr sz="900" b="0">
                <a:solidFill>
                  <a:srgbClr val="5E667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99156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yebrow-2">
            <a:extLst>
              <a:ext uri="{FF2B5EF4-FFF2-40B4-BE49-F238E27FC236}">
                <a16:creationId xmlns:a16="http://schemas.microsoft.com/office/drawing/2014/main" id="{AF435863-CAB9-46A4-8ACC-BAE2F721EA07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PROPOSED PILOT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5708B575-0D92-47AB-8770-6446443D75AF}"/>
              </a:ext>
            </a:extLst>
          </p:cNvPr>
          <p:cNvSpPr>
            <a:spLocks noGrp="1"/>
          </p:cNvSpPr>
          <p:nvPr/>
        </p:nvSpPr>
        <p:spPr>
          <a:xfrm>
            <a:off x="457200" y="68580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OpenSpace connects device data to useful decisions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E210C616-C88D-4B48-B2A8-6AB12480DE14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label-2">
            <a:extLst>
              <a:ext uri="{FF2B5EF4-FFF2-40B4-BE49-F238E27FC236}">
                <a16:creationId xmlns:a16="http://schemas.microsoft.com/office/drawing/2014/main" id="{8142E829-F971-4B5B-9CEF-C38CC2E62661}"/>
              </a:ext>
            </a:extLst>
          </p:cNvPr>
          <p:cNvSpPr>
            <a:spLocks noGrp="1"/>
          </p:cNvSpPr>
          <p:nvPr/>
        </p:nvSpPr>
        <p:spPr>
          <a:xfrm>
            <a:off x="457200" y="6429375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E6673"/>
                </a:solidFill>
              </a:defRPr>
            </a:pPr>
            <a:r>
              <a:rPr sz="825" b="1">
                <a:solidFill>
                  <a:srgbClr val="5E6673"/>
                </a:solidFill>
              </a:rPr>
              <a:t>OPENSPACE × AWS  •  PILOT DISCUSSION</a:t>
            </a:r>
          </a:p>
        </p:txBody>
      </p:sp>
      <p:sp>
        <p:nvSpPr>
          <p:cNvPr id="5" name="slide-number-2">
            <a:extLst>
              <a:ext uri="{FF2B5EF4-FFF2-40B4-BE49-F238E27FC236}">
                <a16:creationId xmlns:a16="http://schemas.microsoft.com/office/drawing/2014/main" id="{CD992F3E-347D-45F0-A9C2-126EF2D800AB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E6673"/>
                </a:solidFill>
              </a:defRPr>
            </a:pPr>
            <a:r>
              <a:rPr sz="900" b="0">
                <a:solidFill>
                  <a:srgbClr val="5E6673"/>
                </a:solidFill>
              </a:rPr>
              <a:t>02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D83D40B0-81EC-4E11-942B-B15FDB741E06}"/>
              </a:ext>
            </a:extLst>
          </p:cNvPr>
          <p:cNvSpPr>
            <a:spLocks noGrp="1"/>
          </p:cNvSpPr>
          <p:nvPr/>
        </p:nvSpPr>
        <p:spPr>
          <a:xfrm>
            <a:off x="457200" y="1733550"/>
            <a:ext cx="10668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0">
                <a:solidFill>
                  <a:srgbClr val="111111"/>
                </a:solidFill>
              </a:defRPr>
            </a:pPr>
            <a:r>
              <a:rPr sz="1875" b="0" dirty="0">
                <a:solidFill>
                  <a:srgbClr val="111111"/>
                </a:solidFill>
              </a:rPr>
              <a:t>The project is small enough to control, but broad enough to exercise AWS IoT, data, machine-learning and generative-AI services in one visible school use case.</a:t>
            </a:r>
          </a:p>
        </p:txBody>
      </p:sp>
      <p:sp>
        <p:nvSpPr>
          <p:cNvPr id="7" name="pilot-reason-0">
            <a:extLst>
              <a:ext uri="{FF2B5EF4-FFF2-40B4-BE49-F238E27FC236}">
                <a16:creationId xmlns:a16="http://schemas.microsoft.com/office/drawing/2014/main" id="{87001938-5701-41EB-A3F8-2FA69947ED95}"/>
              </a:ext>
            </a:extLst>
          </p:cNvPr>
          <p:cNvSpPr>
            <a:spLocks noGrp="1"/>
          </p:cNvSpPr>
          <p:nvPr/>
        </p:nvSpPr>
        <p:spPr>
          <a:xfrm>
            <a:off x="457200" y="3333750"/>
            <a:ext cx="3333750" cy="2266950"/>
          </a:xfrm>
          <a:prstGeom prst="rect">
            <a:avLst/>
          </a:prstGeom>
          <a:solidFill>
            <a:srgbClr val="E5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5015BD86-D259-4851-BD50-7F72556F9E1B}"/>
              </a:ext>
            </a:extLst>
          </p:cNvPr>
          <p:cNvSpPr>
            <a:spLocks noGrp="1"/>
          </p:cNvSpPr>
          <p:nvPr/>
        </p:nvSpPr>
        <p:spPr>
          <a:xfrm>
            <a:off x="666750" y="35623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44B53308-0157-43C9-B225-5E6D608E92B6}"/>
              </a:ext>
            </a:extLst>
          </p:cNvPr>
          <p:cNvSpPr>
            <a:spLocks noGrp="1"/>
          </p:cNvSpPr>
          <p:nvPr/>
        </p:nvSpPr>
        <p:spPr>
          <a:xfrm>
            <a:off x="666750" y="40005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 dirty="0">
                <a:solidFill>
                  <a:srgbClr val="111111"/>
                </a:solidFill>
              </a:rPr>
              <a:t>Existing test bed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D9592FE2-D9EE-4824-8AB1-B234F186AEB4}"/>
              </a:ext>
            </a:extLst>
          </p:cNvPr>
          <p:cNvSpPr>
            <a:spLocks noGrp="1"/>
          </p:cNvSpPr>
          <p:nvPr/>
        </p:nvSpPr>
        <p:spPr>
          <a:xfrm>
            <a:off x="666750" y="4572000"/>
            <a:ext cx="285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E6673"/>
                </a:solidFill>
              </a:defRPr>
            </a:pPr>
            <a:r>
              <a:rPr sz="1275" b="0" dirty="0">
                <a:solidFill>
                  <a:srgbClr val="5E6673"/>
                </a:solidFill>
              </a:rPr>
              <a:t>Raspberry Pi devices and sensors are already available in the PSB laboratory.</a:t>
            </a:r>
          </a:p>
        </p:txBody>
      </p:sp>
      <p:sp>
        <p:nvSpPr>
          <p:cNvPr id="11" name="pilot-reason-1">
            <a:extLst>
              <a:ext uri="{FF2B5EF4-FFF2-40B4-BE49-F238E27FC236}">
                <a16:creationId xmlns:a16="http://schemas.microsoft.com/office/drawing/2014/main" id="{478A951F-796A-4D8A-977E-4002D1F5451C}"/>
              </a:ext>
            </a:extLst>
          </p:cNvPr>
          <p:cNvSpPr>
            <a:spLocks noGrp="1"/>
          </p:cNvSpPr>
          <p:nvPr/>
        </p:nvSpPr>
        <p:spPr>
          <a:xfrm>
            <a:off x="4238625" y="3333750"/>
            <a:ext cx="3333750" cy="22669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A75598B4-CEEE-4265-8847-3A4F66753A73}"/>
              </a:ext>
            </a:extLst>
          </p:cNvPr>
          <p:cNvSpPr>
            <a:spLocks noGrp="1"/>
          </p:cNvSpPr>
          <p:nvPr/>
        </p:nvSpPr>
        <p:spPr>
          <a:xfrm>
            <a:off x="4448175" y="35623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B06EB3EB-02DB-4A27-9724-F22CCD80E8B2}"/>
              </a:ext>
            </a:extLst>
          </p:cNvPr>
          <p:cNvSpPr>
            <a:spLocks noGrp="1"/>
          </p:cNvSpPr>
          <p:nvPr/>
        </p:nvSpPr>
        <p:spPr>
          <a:xfrm>
            <a:off x="4448175" y="40005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 dirty="0">
                <a:solidFill>
                  <a:srgbClr val="111111"/>
                </a:solidFill>
              </a:rPr>
              <a:t>Student-led delivery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D165731A-7C82-4755-BE08-4ECCA7E30752}"/>
              </a:ext>
            </a:extLst>
          </p:cNvPr>
          <p:cNvSpPr>
            <a:spLocks noGrp="1"/>
          </p:cNvSpPr>
          <p:nvPr/>
        </p:nvSpPr>
        <p:spPr>
          <a:xfrm>
            <a:off x="4448175" y="4572000"/>
            <a:ext cx="285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E6673"/>
                </a:solidFill>
              </a:defRPr>
            </a:pPr>
            <a:r>
              <a:rPr sz="1275" b="0" dirty="0">
                <a:solidFill>
                  <a:srgbClr val="5E6673"/>
                </a:solidFill>
              </a:rPr>
              <a:t>The team can build and validate each stage while developing practical cloud skills.</a:t>
            </a:r>
          </a:p>
        </p:txBody>
      </p:sp>
      <p:sp>
        <p:nvSpPr>
          <p:cNvPr id="15" name="pilot-reason-2">
            <a:extLst>
              <a:ext uri="{FF2B5EF4-FFF2-40B4-BE49-F238E27FC236}">
                <a16:creationId xmlns:a16="http://schemas.microsoft.com/office/drawing/2014/main" id="{1785580E-080B-464C-ABA6-EE5BBBFEE678}"/>
              </a:ext>
            </a:extLst>
          </p:cNvPr>
          <p:cNvSpPr>
            <a:spLocks noGrp="1"/>
          </p:cNvSpPr>
          <p:nvPr/>
        </p:nvSpPr>
        <p:spPr>
          <a:xfrm>
            <a:off x="8020050" y="3333750"/>
            <a:ext cx="3333750" cy="22669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4587F275-9FC1-4AEF-85F4-DF65FB2BD9AD}"/>
              </a:ext>
            </a:extLst>
          </p:cNvPr>
          <p:cNvSpPr>
            <a:spLocks noGrp="1"/>
          </p:cNvSpPr>
          <p:nvPr/>
        </p:nvSpPr>
        <p:spPr>
          <a:xfrm>
            <a:off x="8229600" y="35623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809F9DB2-AE05-476C-B54D-1468234F141B}"/>
              </a:ext>
            </a:extLst>
          </p:cNvPr>
          <p:cNvSpPr>
            <a:spLocks noGrp="1"/>
          </p:cNvSpPr>
          <p:nvPr/>
        </p:nvSpPr>
        <p:spPr>
          <a:xfrm>
            <a:off x="8229600" y="40005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 dirty="0">
                <a:solidFill>
                  <a:srgbClr val="111111"/>
                </a:solidFill>
              </a:rPr>
              <a:t>Expandable pathway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B47A13D2-E842-4E8B-86E3-817E1A98B85D}"/>
              </a:ext>
            </a:extLst>
          </p:cNvPr>
          <p:cNvSpPr>
            <a:spLocks noGrp="1"/>
          </p:cNvSpPr>
          <p:nvPr/>
        </p:nvSpPr>
        <p:spPr>
          <a:xfrm>
            <a:off x="8229600" y="4572000"/>
            <a:ext cx="285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E6673"/>
                </a:solidFill>
              </a:defRPr>
            </a:pPr>
            <a:r>
              <a:rPr sz="1275" b="0" dirty="0">
                <a:solidFill>
                  <a:srgbClr val="5E6673"/>
                </a:solidFill>
              </a:rPr>
              <a:t>A successful pilot could create a pattern for other school projects and future devices.</a:t>
            </a:r>
          </a:p>
        </p:txBody>
      </p:sp>
    </p:spTree>
    <p:extLst>
      <p:ext uri="{BB962C8B-B14F-4D97-AF65-F5344CB8AC3E}">
        <p14:creationId xmlns:p14="http://schemas.microsoft.com/office/powerpoint/2010/main" val="1327863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yebrow-3">
            <a:extLst>
              <a:ext uri="{FF2B5EF4-FFF2-40B4-BE49-F238E27FC236}">
                <a16:creationId xmlns:a16="http://schemas.microsoft.com/office/drawing/2014/main" id="{04995167-E925-4C87-9132-85083611A266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PILOT ARCHITECTURE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CE3417D2-5B7B-46B0-A452-565F4542DCCF}"/>
              </a:ext>
            </a:extLst>
          </p:cNvPr>
          <p:cNvSpPr>
            <a:spLocks noGrp="1"/>
          </p:cNvSpPr>
          <p:nvPr/>
        </p:nvSpPr>
        <p:spPr>
          <a:xfrm>
            <a:off x="457200" y="68580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A staged, serverless-first pilot architecture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55C25E95-427E-4449-9119-77D0F7681407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label-3">
            <a:extLst>
              <a:ext uri="{FF2B5EF4-FFF2-40B4-BE49-F238E27FC236}">
                <a16:creationId xmlns:a16="http://schemas.microsoft.com/office/drawing/2014/main" id="{025BC0DE-2108-4E5D-B49A-67BED3085FFD}"/>
              </a:ext>
            </a:extLst>
          </p:cNvPr>
          <p:cNvSpPr>
            <a:spLocks noGrp="1"/>
          </p:cNvSpPr>
          <p:nvPr/>
        </p:nvSpPr>
        <p:spPr>
          <a:xfrm>
            <a:off x="457200" y="6429375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E6673"/>
                </a:solidFill>
              </a:defRPr>
            </a:pPr>
            <a:r>
              <a:rPr sz="825" b="1">
                <a:solidFill>
                  <a:srgbClr val="5E6673"/>
                </a:solidFill>
              </a:rPr>
              <a:t>OPENSPACE × AWS  •  PILOT DISCUSSION</a:t>
            </a:r>
          </a:p>
        </p:txBody>
      </p:sp>
      <p:sp>
        <p:nvSpPr>
          <p:cNvPr id="5" name="slide-number-3">
            <a:extLst>
              <a:ext uri="{FF2B5EF4-FFF2-40B4-BE49-F238E27FC236}">
                <a16:creationId xmlns:a16="http://schemas.microsoft.com/office/drawing/2014/main" id="{1C3A5929-70B1-450E-8DC0-9F6D960C2652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E6673"/>
                </a:solidFill>
              </a:defRPr>
            </a:pPr>
            <a:r>
              <a:rPr sz="900" b="0">
                <a:solidFill>
                  <a:srgbClr val="5E6673"/>
                </a:solidFill>
              </a:rPr>
              <a:t>03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6211E13E-95D4-4F93-B2A5-D8FE2C4B681E}"/>
              </a:ext>
            </a:extLst>
          </p:cNvPr>
          <p:cNvSpPr>
            <a:spLocks noGrp="1"/>
          </p:cNvSpPr>
          <p:nvPr/>
        </p:nvSpPr>
        <p:spPr>
          <a:xfrm>
            <a:off x="457200" y="17526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5E6673"/>
                </a:solidFill>
              </a:defRPr>
            </a:pPr>
            <a:r>
              <a:rPr sz="1500" b="1">
                <a:solidFill>
                  <a:srgbClr val="5E6673"/>
                </a:solidFill>
              </a:rPr>
              <a:t>Core data pathway</a:t>
            </a:r>
          </a:p>
        </p:txBody>
      </p:sp>
      <p:sp>
        <p:nvSpPr>
          <p:cNvPr id="7" name="core-node-0">
            <a:extLst>
              <a:ext uri="{FF2B5EF4-FFF2-40B4-BE49-F238E27FC236}">
                <a16:creationId xmlns:a16="http://schemas.microsoft.com/office/drawing/2014/main" id="{16BB7E6D-7EAF-46E6-BDF6-61A7F010D465}"/>
              </a:ext>
            </a:extLst>
          </p:cNvPr>
          <p:cNvSpPr>
            <a:spLocks noGrp="1"/>
          </p:cNvSpPr>
          <p:nvPr/>
        </p:nvSpPr>
        <p:spPr>
          <a:xfrm>
            <a:off x="457200" y="2381250"/>
            <a:ext cx="1905000" cy="1047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03A486B-E2B9-4F73-AD6B-99B946F94359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1600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Pi + sensors</a:t>
            </a:r>
          </a:p>
        </p:txBody>
      </p:sp>
      <p:sp>
        <p:nvSpPr>
          <p:cNvPr id="9" name="core-node-1">
            <a:extLst>
              <a:ext uri="{FF2B5EF4-FFF2-40B4-BE49-F238E27FC236}">
                <a16:creationId xmlns:a16="http://schemas.microsoft.com/office/drawing/2014/main" id="{688EBE37-2E69-4B48-8834-477FA6AF9CA8}"/>
              </a:ext>
            </a:extLst>
          </p:cNvPr>
          <p:cNvSpPr>
            <a:spLocks noGrp="1"/>
          </p:cNvSpPr>
          <p:nvPr/>
        </p:nvSpPr>
        <p:spPr>
          <a:xfrm>
            <a:off x="2781300" y="2381250"/>
            <a:ext cx="1905000" cy="1047750"/>
          </a:xfrm>
          <a:prstGeom prst="rect">
            <a:avLst/>
          </a:prstGeom>
          <a:solidFill>
            <a:srgbClr val="E5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79F180A-9BAB-4F8C-AB3F-5B77DC2C498D}"/>
              </a:ext>
            </a:extLst>
          </p:cNvPr>
          <p:cNvSpPr>
            <a:spLocks noGrp="1"/>
          </p:cNvSpPr>
          <p:nvPr/>
        </p:nvSpPr>
        <p:spPr>
          <a:xfrm>
            <a:off x="2933700" y="2667000"/>
            <a:ext cx="1600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AWS IoT Core</a:t>
            </a:r>
          </a:p>
        </p:txBody>
      </p:sp>
      <p:sp>
        <p:nvSpPr>
          <p:cNvPr id="11" name="core-node-2">
            <a:extLst>
              <a:ext uri="{FF2B5EF4-FFF2-40B4-BE49-F238E27FC236}">
                <a16:creationId xmlns:a16="http://schemas.microsoft.com/office/drawing/2014/main" id="{171ED7E7-9A11-49A9-83FE-413592C55CB8}"/>
              </a:ext>
            </a:extLst>
          </p:cNvPr>
          <p:cNvSpPr>
            <a:spLocks noGrp="1"/>
          </p:cNvSpPr>
          <p:nvPr/>
        </p:nvSpPr>
        <p:spPr>
          <a:xfrm>
            <a:off x="5105400" y="2381250"/>
            <a:ext cx="1905000" cy="1047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3E2D0FC4-35D8-44BD-8C94-3B9B336F72D1}"/>
              </a:ext>
            </a:extLst>
          </p:cNvPr>
          <p:cNvSpPr>
            <a:spLocks noGrp="1"/>
          </p:cNvSpPr>
          <p:nvPr/>
        </p:nvSpPr>
        <p:spPr>
          <a:xfrm>
            <a:off x="5257800" y="2667000"/>
            <a:ext cx="1600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Timestream / S3</a:t>
            </a:r>
          </a:p>
        </p:txBody>
      </p:sp>
      <p:sp>
        <p:nvSpPr>
          <p:cNvPr id="13" name="core-node-3">
            <a:extLst>
              <a:ext uri="{FF2B5EF4-FFF2-40B4-BE49-F238E27FC236}">
                <a16:creationId xmlns:a16="http://schemas.microsoft.com/office/drawing/2014/main" id="{B2A30FA4-FEFC-40D8-9A13-37BF257CDB0F}"/>
              </a:ext>
            </a:extLst>
          </p:cNvPr>
          <p:cNvSpPr>
            <a:spLocks noGrp="1"/>
          </p:cNvSpPr>
          <p:nvPr/>
        </p:nvSpPr>
        <p:spPr>
          <a:xfrm>
            <a:off x="7429500" y="2381250"/>
            <a:ext cx="1905000" cy="1047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1E066CB8-A1E0-4C24-82A3-C442CD0139DE}"/>
              </a:ext>
            </a:extLst>
          </p:cNvPr>
          <p:cNvSpPr>
            <a:spLocks noGrp="1"/>
          </p:cNvSpPr>
          <p:nvPr/>
        </p:nvSpPr>
        <p:spPr>
          <a:xfrm>
            <a:off x="7581900" y="2667000"/>
            <a:ext cx="1600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API Gateway + Lambda</a:t>
            </a:r>
          </a:p>
        </p:txBody>
      </p:sp>
      <p:sp>
        <p:nvSpPr>
          <p:cNvPr id="15" name="core-node-4">
            <a:extLst>
              <a:ext uri="{FF2B5EF4-FFF2-40B4-BE49-F238E27FC236}">
                <a16:creationId xmlns:a16="http://schemas.microsoft.com/office/drawing/2014/main" id="{249AAF91-234F-4CEE-BCFF-E33B5198CFA9}"/>
              </a:ext>
            </a:extLst>
          </p:cNvPr>
          <p:cNvSpPr>
            <a:spLocks noGrp="1"/>
          </p:cNvSpPr>
          <p:nvPr/>
        </p:nvSpPr>
        <p:spPr>
          <a:xfrm>
            <a:off x="9753600" y="2381250"/>
            <a:ext cx="1905000" cy="1047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231B36BC-D917-4006-8882-DB6D4FF483B2}"/>
              </a:ext>
            </a:extLst>
          </p:cNvPr>
          <p:cNvSpPr>
            <a:spLocks noGrp="1"/>
          </p:cNvSpPr>
          <p:nvPr/>
        </p:nvSpPr>
        <p:spPr>
          <a:xfrm>
            <a:off x="9906000" y="2667000"/>
            <a:ext cx="1600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Web dashboard</a:t>
            </a:r>
          </a:p>
        </p:txBody>
      </p:sp>
      <p:cxnSp>
        <p:nvCxnSpPr>
          <p:cNvPr id="45" name="Straight Arrow Connector 44"/>
          <p:cNvCxnSpPr>
            <a:stCxn id="7" idx="3"/>
            <a:endCxn id="9" idx="1"/>
          </p:cNvCxnSpPr>
          <p:nvPr/>
        </p:nvCxnSpPr>
        <p:spPr>
          <a:xfrm>
            <a:off x="2362200" y="2905125"/>
            <a:ext cx="419100" cy="0"/>
          </a:xfrm>
          <a:prstGeom prst="straightConnector1">
            <a:avLst/>
          </a:prstGeom>
          <a:ln w="19050">
            <a:solidFill>
              <a:srgbClr val="111111"/>
            </a:solidFill>
            <a:prstDash val="solid"/>
            <a:tailEnd type="arrow" w="sm" len="sm"/>
          </a:ln>
        </p:spPr>
      </p:cxnSp>
      <p:cxnSp>
        <p:nvCxnSpPr>
          <p:cNvPr id="46" name="Straight Arrow Connector 45"/>
          <p:cNvCxnSpPr>
            <a:stCxn id="9" idx="3"/>
            <a:endCxn id="11" idx="1"/>
          </p:cNvCxnSpPr>
          <p:nvPr/>
        </p:nvCxnSpPr>
        <p:spPr>
          <a:xfrm>
            <a:off x="4686300" y="2905125"/>
            <a:ext cx="419100" cy="0"/>
          </a:xfrm>
          <a:prstGeom prst="straightConnector1">
            <a:avLst/>
          </a:prstGeom>
          <a:ln w="19050">
            <a:solidFill>
              <a:srgbClr val="111111"/>
            </a:solidFill>
            <a:prstDash val="solid"/>
            <a:tailEnd type="arrow" w="sm" len="sm"/>
          </a:ln>
        </p:spPr>
      </p:cxnSp>
      <p:cxnSp>
        <p:nvCxnSpPr>
          <p:cNvPr id="47" name="Straight Arrow Connector 46"/>
          <p:cNvCxnSpPr>
            <a:stCxn id="11" idx="3"/>
            <a:endCxn id="13" idx="1"/>
          </p:cNvCxnSpPr>
          <p:nvPr/>
        </p:nvCxnSpPr>
        <p:spPr>
          <a:xfrm>
            <a:off x="7010400" y="2905125"/>
            <a:ext cx="419100" cy="0"/>
          </a:xfrm>
          <a:prstGeom prst="straightConnector1">
            <a:avLst/>
          </a:prstGeom>
          <a:ln w="19050">
            <a:solidFill>
              <a:srgbClr val="111111"/>
            </a:solidFill>
            <a:prstDash val="solid"/>
            <a:tailEnd type="arrow" w="sm" len="sm"/>
          </a:ln>
        </p:spPr>
      </p:cxnSp>
      <p:cxnSp>
        <p:nvCxnSpPr>
          <p:cNvPr id="48" name="Straight Arrow Connector 47"/>
          <p:cNvCxnSpPr>
            <a:stCxn id="13" idx="3"/>
            <a:endCxn id="15" idx="1"/>
          </p:cNvCxnSpPr>
          <p:nvPr/>
        </p:nvCxnSpPr>
        <p:spPr>
          <a:xfrm>
            <a:off x="9334500" y="2905125"/>
            <a:ext cx="419100" cy="0"/>
          </a:xfrm>
          <a:prstGeom prst="straightConnector1">
            <a:avLst/>
          </a:prstGeom>
          <a:ln w="19050">
            <a:solidFill>
              <a:srgbClr val="111111"/>
            </a:solidFill>
            <a:prstDash val="solid"/>
            <a:tailEnd type="arrow" w="sm" len="sm"/>
          </a:ln>
        </p:spPr>
      </p:cxnSp>
      <p:sp>
        <p:nvSpPr>
          <p:cNvPr id="21" name="text">
            <a:extLst>
              <a:ext uri="{FF2B5EF4-FFF2-40B4-BE49-F238E27FC236}">
                <a16:creationId xmlns:a16="http://schemas.microsoft.com/office/drawing/2014/main" id="{39F2C867-A2DE-4472-8EA9-88396D5F6221}"/>
              </a:ext>
            </a:extLst>
          </p:cNvPr>
          <p:cNvSpPr>
            <a:spLocks noGrp="1"/>
          </p:cNvSpPr>
          <p:nvPr/>
        </p:nvSpPr>
        <p:spPr>
          <a:xfrm>
            <a:off x="457200" y="3943350"/>
            <a:ext cx="666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5E6673"/>
                </a:solidFill>
              </a:defRPr>
            </a:pPr>
            <a:r>
              <a:rPr sz="1500" b="1">
                <a:solidFill>
                  <a:srgbClr val="5E6673"/>
                </a:solidFill>
              </a:rPr>
              <a:t>Intelligence layer — introduced after reliable data collection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BDFD2B6A-5AEF-46A8-87AA-CEEAA73EC69F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E6673"/>
                </a:solidFill>
              </a:defRPr>
            </a:pPr>
            <a:r>
              <a:rPr sz="1275" b="0">
                <a:solidFill>
                  <a:srgbClr val="5E6673"/>
                </a:solidFill>
              </a:rPr>
              <a:t>Model outputs and assistant responses return through the application API.</a:t>
            </a:r>
          </a:p>
        </p:txBody>
      </p:sp>
      <p:sp>
        <p:nvSpPr>
          <p:cNvPr id="23" name="sagemaker-node">
            <a:extLst>
              <a:ext uri="{FF2B5EF4-FFF2-40B4-BE49-F238E27FC236}">
                <a16:creationId xmlns:a16="http://schemas.microsoft.com/office/drawing/2014/main" id="{80AC15C9-593F-4D8F-9C30-85FFD80339EE}"/>
              </a:ext>
            </a:extLst>
          </p:cNvPr>
          <p:cNvSpPr>
            <a:spLocks noGrp="1"/>
          </p:cNvSpPr>
          <p:nvPr/>
        </p:nvSpPr>
        <p:spPr>
          <a:xfrm>
            <a:off x="4972050" y="4857750"/>
            <a:ext cx="2381250" cy="9906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bedrock-node">
            <a:extLst>
              <a:ext uri="{FF2B5EF4-FFF2-40B4-BE49-F238E27FC236}">
                <a16:creationId xmlns:a16="http://schemas.microsoft.com/office/drawing/2014/main" id="{73153AEB-CA5C-474A-BC26-DA890E2E3141}"/>
              </a:ext>
            </a:extLst>
          </p:cNvPr>
          <p:cNvSpPr>
            <a:spLocks noGrp="1"/>
          </p:cNvSpPr>
          <p:nvPr/>
        </p:nvSpPr>
        <p:spPr>
          <a:xfrm>
            <a:off x="7620000" y="4857750"/>
            <a:ext cx="2857500" cy="990600"/>
          </a:xfrm>
          <a:prstGeom prst="rect">
            <a:avLst/>
          </a:prstGeom>
          <a:solidFill>
            <a:srgbClr val="E5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A0A5A7F9-578C-493F-81C7-AFD8C166CCC8}"/>
              </a:ext>
            </a:extLst>
          </p:cNvPr>
          <p:cNvSpPr>
            <a:spLocks noGrp="1"/>
          </p:cNvSpPr>
          <p:nvPr/>
        </p:nvSpPr>
        <p:spPr>
          <a:xfrm>
            <a:off x="5162550" y="5086350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SageMaker AI</a:t>
            </a:r>
          </a:p>
          <a:p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training + inference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6DCE6F78-0707-46AE-BBF7-27DC09579B8A}"/>
              </a:ext>
            </a:extLst>
          </p:cNvPr>
          <p:cNvSpPr>
            <a:spLocks noGrp="1"/>
          </p:cNvSpPr>
          <p:nvPr/>
        </p:nvSpPr>
        <p:spPr>
          <a:xfrm>
            <a:off x="7829550" y="5086350"/>
            <a:ext cx="2438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Bedrock + Lambda</a:t>
            </a:r>
          </a:p>
          <a:p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AgentCore if needed</a:t>
            </a:r>
          </a:p>
        </p:txBody>
      </p:sp>
      <p:cxnSp>
        <p:nvCxnSpPr>
          <p:cNvPr id="55" name="Straight Arrow Connector 54"/>
          <p:cNvCxnSpPr>
            <a:stCxn id="11" idx="2"/>
            <a:endCxn id="23" idx="0"/>
          </p:cNvCxnSpPr>
          <p:nvPr/>
        </p:nvCxnSpPr>
        <p:spPr>
          <a:xfrm>
            <a:off x="6057900" y="3429000"/>
            <a:ext cx="104775" cy="1428750"/>
          </a:xfrm>
          <a:prstGeom prst="straightConnector1">
            <a:avLst/>
          </a:prstGeom>
          <a:ln w="19050">
            <a:solidFill>
              <a:srgbClr val="3D8DFF"/>
            </a:solidFill>
            <a:prstDash val="dash"/>
            <a:tailEnd type="arrow" w="sm" len="sm"/>
          </a:ln>
        </p:spPr>
      </p:cxnSp>
      <p:cxnSp>
        <p:nvCxnSpPr>
          <p:cNvPr id="56" name="Straight Arrow Connector 55"/>
          <p:cNvCxnSpPr>
            <a:stCxn id="13" idx="2"/>
            <a:endCxn id="24" idx="0"/>
          </p:cNvCxnSpPr>
          <p:nvPr/>
        </p:nvCxnSpPr>
        <p:spPr>
          <a:xfrm>
            <a:off x="8382000" y="3429000"/>
            <a:ext cx="666750" cy="1428750"/>
          </a:xfrm>
          <a:prstGeom prst="straightConnector1">
            <a:avLst/>
          </a:prstGeom>
          <a:ln w="19050">
            <a:solidFill>
              <a:srgbClr val="3D8DFF"/>
            </a:solidFill>
            <a:prstDash val="dash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530478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-4">
            <a:extLst>
              <a:ext uri="{FF2B5EF4-FFF2-40B4-BE49-F238E27FC236}">
                <a16:creationId xmlns:a16="http://schemas.microsoft.com/office/drawing/2014/main" id="{D68BC7A4-18EA-46F9-9043-0E9F97E85215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PHASE 1 — PILOT FOUNDATION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09251488-EF73-48C2-9AD9-049D7D4C28B1}"/>
              </a:ext>
            </a:extLst>
          </p:cNvPr>
          <p:cNvSpPr>
            <a:spLocks noGrp="1"/>
          </p:cNvSpPr>
          <p:nvPr/>
        </p:nvSpPr>
        <p:spPr>
          <a:xfrm>
            <a:off x="457200" y="68580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Phase 1 proves the IoT pathway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6BD34334-5519-462C-8BD3-9B8C8179BAEA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label-4">
            <a:extLst>
              <a:ext uri="{FF2B5EF4-FFF2-40B4-BE49-F238E27FC236}">
                <a16:creationId xmlns:a16="http://schemas.microsoft.com/office/drawing/2014/main" id="{15B8418F-C3A0-40B2-8410-48B3DE4494E5}"/>
              </a:ext>
            </a:extLst>
          </p:cNvPr>
          <p:cNvSpPr>
            <a:spLocks noGrp="1"/>
          </p:cNvSpPr>
          <p:nvPr/>
        </p:nvSpPr>
        <p:spPr>
          <a:xfrm>
            <a:off x="457200" y="6429375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E6673"/>
                </a:solidFill>
              </a:defRPr>
            </a:pPr>
            <a:r>
              <a:rPr sz="825" b="1">
                <a:solidFill>
                  <a:srgbClr val="5E6673"/>
                </a:solidFill>
              </a:rPr>
              <a:t>OPENSPACE × AWS  •  PILOT DISCUSSION</a:t>
            </a:r>
          </a:p>
        </p:txBody>
      </p:sp>
      <p:sp>
        <p:nvSpPr>
          <p:cNvPr id="5" name="slide-number-4">
            <a:extLst>
              <a:ext uri="{FF2B5EF4-FFF2-40B4-BE49-F238E27FC236}">
                <a16:creationId xmlns:a16="http://schemas.microsoft.com/office/drawing/2014/main" id="{1947ABF3-DD15-44D5-BA5A-2EF66370C7CC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E6673"/>
                </a:solidFill>
              </a:defRPr>
            </a:pPr>
            <a:r>
              <a:rPr sz="900" b="0">
                <a:solidFill>
                  <a:srgbClr val="5E6673"/>
                </a:solidFill>
              </a:rPr>
              <a:t>04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BC68B6BE-27A2-4FAA-9146-CD7D3DCD783A}"/>
              </a:ext>
            </a:extLst>
          </p:cNvPr>
          <p:cNvSpPr>
            <a:spLocks noGrp="1"/>
          </p:cNvSpPr>
          <p:nvPr/>
        </p:nvSpPr>
        <p:spPr>
          <a:xfrm>
            <a:off x="457200" y="16954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A short technical pilot should answer whether devices can connect securely, data can be stored consistently, and the frontend can present useful results.</a:t>
            </a:r>
          </a:p>
        </p:txBody>
      </p:sp>
      <p:sp>
        <p:nvSpPr>
          <p:cNvPr id="7" name="rule">
            <a:extLst>
              <a:ext uri="{FF2B5EF4-FFF2-40B4-BE49-F238E27FC236}">
                <a16:creationId xmlns:a16="http://schemas.microsoft.com/office/drawing/2014/main" id="{485618E0-A806-4FAF-9A3F-554AC3EE3A8A}"/>
              </a:ext>
            </a:extLst>
          </p:cNvPr>
          <p:cNvSpPr>
            <a:spLocks noGrp="1"/>
          </p:cNvSpPr>
          <p:nvPr/>
        </p:nvSpPr>
        <p:spPr>
          <a:xfrm>
            <a:off x="457200" y="3371850"/>
            <a:ext cx="11049000" cy="0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BE9643-C10A-45BF-8F71-5EFDF4A0F169}"/>
              </a:ext>
            </a:extLst>
          </p:cNvPr>
          <p:cNvSpPr>
            <a:spLocks noGrp="1"/>
          </p:cNvSpPr>
          <p:nvPr/>
        </p:nvSpPr>
        <p:spPr>
          <a:xfrm>
            <a:off x="457200" y="3305175"/>
            <a:ext cx="133350" cy="133350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F2DC7E7-01B2-436A-91D0-730FC5CC3053}"/>
              </a:ext>
            </a:extLst>
          </p:cNvPr>
          <p:cNvSpPr>
            <a:spLocks noGrp="1"/>
          </p:cNvSpPr>
          <p:nvPr/>
        </p:nvSpPr>
        <p:spPr>
          <a:xfrm>
            <a:off x="4362450" y="3305175"/>
            <a:ext cx="133350" cy="133350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0AEF445-B96C-425A-A324-2C62C4DE7DCA}"/>
              </a:ext>
            </a:extLst>
          </p:cNvPr>
          <p:cNvSpPr>
            <a:spLocks noGrp="1"/>
          </p:cNvSpPr>
          <p:nvPr/>
        </p:nvSpPr>
        <p:spPr>
          <a:xfrm>
            <a:off x="8267700" y="3305175"/>
            <a:ext cx="133350" cy="133350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4FB73033-3813-47F0-B863-49A1EBAD911A}"/>
              </a:ext>
            </a:extLst>
          </p:cNvPr>
          <p:cNvSpPr>
            <a:spLocks noGrp="1"/>
          </p:cNvSpPr>
          <p:nvPr/>
        </p:nvSpPr>
        <p:spPr>
          <a:xfrm>
            <a:off x="457200" y="27241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AABBB4BC-3E79-47C8-8F83-F5399BCA443B}"/>
              </a:ext>
            </a:extLst>
          </p:cNvPr>
          <p:cNvSpPr>
            <a:spLocks noGrp="1"/>
          </p:cNvSpPr>
          <p:nvPr/>
        </p:nvSpPr>
        <p:spPr>
          <a:xfrm>
            <a:off x="457200" y="3048000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CONNECT</a:t>
            </a:r>
          </a:p>
        </p:txBody>
      </p:sp>
      <p:sp>
        <p:nvSpPr>
          <p:cNvPr id="13" name="stage-01">
            <a:extLst>
              <a:ext uri="{FF2B5EF4-FFF2-40B4-BE49-F238E27FC236}">
                <a16:creationId xmlns:a16="http://schemas.microsoft.com/office/drawing/2014/main" id="{B368C2FC-EEE3-4EA9-AAD1-94221D2D47C3}"/>
              </a:ext>
            </a:extLst>
          </p:cNvPr>
          <p:cNvSpPr>
            <a:spLocks noGrp="1"/>
          </p:cNvSpPr>
          <p:nvPr/>
        </p:nvSpPr>
        <p:spPr>
          <a:xfrm>
            <a:off x="457200" y="3695700"/>
            <a:ext cx="3143250" cy="17907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31C28739-7255-4A5F-839F-BE55C754FC5C}"/>
              </a:ext>
            </a:extLst>
          </p:cNvPr>
          <p:cNvSpPr>
            <a:spLocks noGrp="1"/>
          </p:cNvSpPr>
          <p:nvPr/>
        </p:nvSpPr>
        <p:spPr>
          <a:xfrm>
            <a:off x="666750" y="3943350"/>
            <a:ext cx="2714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Secure device link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9D791733-22C2-447B-9F3C-65946110BADE}"/>
              </a:ext>
            </a:extLst>
          </p:cNvPr>
          <p:cNvSpPr>
            <a:spLocks noGrp="1"/>
          </p:cNvSpPr>
          <p:nvPr/>
        </p:nvSpPr>
        <p:spPr>
          <a:xfrm>
            <a:off x="666750" y="4457700"/>
            <a:ext cx="27146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E6673"/>
                </a:solidFill>
              </a:defRPr>
            </a:pPr>
            <a:r>
              <a:rPr sz="1275" b="0">
                <a:solidFill>
                  <a:srgbClr val="5E6673"/>
                </a:solidFill>
              </a:rPr>
              <a:t>Configure IoT Things, certificates, MQTT topics and limited policies.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1CE7E7C7-AE7A-4F73-B9A6-00AF99634016}"/>
              </a:ext>
            </a:extLst>
          </p:cNvPr>
          <p:cNvSpPr>
            <a:spLocks noGrp="1"/>
          </p:cNvSpPr>
          <p:nvPr/>
        </p:nvSpPr>
        <p:spPr>
          <a:xfrm>
            <a:off x="4362450" y="27241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0D82C75D-CE3E-4968-B30E-07ABDD3729BC}"/>
              </a:ext>
            </a:extLst>
          </p:cNvPr>
          <p:cNvSpPr>
            <a:spLocks noGrp="1"/>
          </p:cNvSpPr>
          <p:nvPr/>
        </p:nvSpPr>
        <p:spPr>
          <a:xfrm>
            <a:off x="4362450" y="3048000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STORE</a:t>
            </a:r>
          </a:p>
        </p:txBody>
      </p:sp>
      <p:sp>
        <p:nvSpPr>
          <p:cNvPr id="18" name="stage-02">
            <a:extLst>
              <a:ext uri="{FF2B5EF4-FFF2-40B4-BE49-F238E27FC236}">
                <a16:creationId xmlns:a16="http://schemas.microsoft.com/office/drawing/2014/main" id="{D9B59BF9-696C-4861-8739-83252800B8F3}"/>
              </a:ext>
            </a:extLst>
          </p:cNvPr>
          <p:cNvSpPr>
            <a:spLocks noGrp="1"/>
          </p:cNvSpPr>
          <p:nvPr/>
        </p:nvSpPr>
        <p:spPr>
          <a:xfrm>
            <a:off x="4362450" y="3695700"/>
            <a:ext cx="3143250" cy="17907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09A2A8CF-5237-4B64-917D-E8D10562ED58}"/>
              </a:ext>
            </a:extLst>
          </p:cNvPr>
          <p:cNvSpPr>
            <a:spLocks noGrp="1"/>
          </p:cNvSpPr>
          <p:nvPr/>
        </p:nvSpPr>
        <p:spPr>
          <a:xfrm>
            <a:off x="4572000" y="3943350"/>
            <a:ext cx="2714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Reliable data flow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B7BC26AF-D87E-4D6B-8004-8AEBB8D51432}"/>
              </a:ext>
            </a:extLst>
          </p:cNvPr>
          <p:cNvSpPr>
            <a:spLocks noGrp="1"/>
          </p:cNvSpPr>
          <p:nvPr/>
        </p:nvSpPr>
        <p:spPr>
          <a:xfrm>
            <a:off x="4572000" y="4457700"/>
            <a:ext cx="27146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E6673"/>
                </a:solidFill>
              </a:defRPr>
            </a:pPr>
            <a:r>
              <a:rPr sz="1275" b="0">
                <a:solidFill>
                  <a:srgbClr val="5E6673"/>
                </a:solidFill>
              </a:rPr>
              <a:t>Route structured sensor readings to Timestream and/or S3.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D3D87BC6-15F7-4544-B46E-1597FFAFD3B5}"/>
              </a:ext>
            </a:extLst>
          </p:cNvPr>
          <p:cNvSpPr>
            <a:spLocks noGrp="1"/>
          </p:cNvSpPr>
          <p:nvPr/>
        </p:nvSpPr>
        <p:spPr>
          <a:xfrm>
            <a:off x="8267700" y="27241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FDAD82E0-EE93-4501-851C-0428CAF74D5E}"/>
              </a:ext>
            </a:extLst>
          </p:cNvPr>
          <p:cNvSpPr>
            <a:spLocks noGrp="1"/>
          </p:cNvSpPr>
          <p:nvPr/>
        </p:nvSpPr>
        <p:spPr>
          <a:xfrm>
            <a:off x="8267700" y="3048000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SHOW</a:t>
            </a:r>
          </a:p>
        </p:txBody>
      </p:sp>
      <p:sp>
        <p:nvSpPr>
          <p:cNvPr id="23" name="stage-03">
            <a:extLst>
              <a:ext uri="{FF2B5EF4-FFF2-40B4-BE49-F238E27FC236}">
                <a16:creationId xmlns:a16="http://schemas.microsoft.com/office/drawing/2014/main" id="{C665295D-3ECA-4292-BDC9-05403F48616E}"/>
              </a:ext>
            </a:extLst>
          </p:cNvPr>
          <p:cNvSpPr>
            <a:spLocks noGrp="1"/>
          </p:cNvSpPr>
          <p:nvPr/>
        </p:nvSpPr>
        <p:spPr>
          <a:xfrm>
            <a:off x="8267700" y="3695700"/>
            <a:ext cx="3143250" cy="17907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E4F84790-F53F-4886-A1B4-66F951E745C3}"/>
              </a:ext>
            </a:extLst>
          </p:cNvPr>
          <p:cNvSpPr>
            <a:spLocks noGrp="1"/>
          </p:cNvSpPr>
          <p:nvPr/>
        </p:nvSpPr>
        <p:spPr>
          <a:xfrm>
            <a:off x="8477250" y="3943350"/>
            <a:ext cx="2714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Useful dashboard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1A70F67F-B4B9-4DAD-AA3E-BFCDA3C3BC14}"/>
              </a:ext>
            </a:extLst>
          </p:cNvPr>
          <p:cNvSpPr>
            <a:spLocks noGrp="1"/>
          </p:cNvSpPr>
          <p:nvPr/>
        </p:nvSpPr>
        <p:spPr>
          <a:xfrm>
            <a:off x="8477250" y="4457700"/>
            <a:ext cx="27146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E6673"/>
                </a:solidFill>
              </a:defRPr>
            </a:pPr>
            <a:r>
              <a:rPr sz="1275" b="0">
                <a:solidFill>
                  <a:srgbClr val="5E6673"/>
                </a:solidFill>
              </a:rPr>
              <a:t>Expose selected data through a small API and validate the web experience.</a:t>
            </a:r>
          </a:p>
        </p:txBody>
      </p:sp>
    </p:spTree>
    <p:extLst>
      <p:ext uri="{BB962C8B-B14F-4D97-AF65-F5344CB8AC3E}">
        <p14:creationId xmlns:p14="http://schemas.microsoft.com/office/powerpoint/2010/main" val="1510879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-5">
            <a:extLst>
              <a:ext uri="{FF2B5EF4-FFF2-40B4-BE49-F238E27FC236}">
                <a16:creationId xmlns:a16="http://schemas.microsoft.com/office/drawing/2014/main" id="{9541F6AC-376C-45A3-ADF2-3DE25FFF2D31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PHASE 2 — INTELLIGENCE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F9A21A27-634D-4176-B2D3-A206CE0B6E51}"/>
              </a:ext>
            </a:extLst>
          </p:cNvPr>
          <p:cNvSpPr>
            <a:spLocks noGrp="1"/>
          </p:cNvSpPr>
          <p:nvPr/>
        </p:nvSpPr>
        <p:spPr>
          <a:xfrm>
            <a:off x="457200" y="68580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Phase 2 adds intelligence after data is trustworthy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41C491DE-9B41-4DE1-9AEA-DF794B0C02BB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label-5">
            <a:extLst>
              <a:ext uri="{FF2B5EF4-FFF2-40B4-BE49-F238E27FC236}">
                <a16:creationId xmlns:a16="http://schemas.microsoft.com/office/drawing/2014/main" id="{B84021D5-CF06-42A9-9D71-C30529C5CCC1}"/>
              </a:ext>
            </a:extLst>
          </p:cNvPr>
          <p:cNvSpPr>
            <a:spLocks noGrp="1"/>
          </p:cNvSpPr>
          <p:nvPr/>
        </p:nvSpPr>
        <p:spPr>
          <a:xfrm>
            <a:off x="457200" y="6429375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E6673"/>
                </a:solidFill>
              </a:defRPr>
            </a:pPr>
            <a:r>
              <a:rPr sz="825" b="1">
                <a:solidFill>
                  <a:srgbClr val="5E6673"/>
                </a:solidFill>
              </a:rPr>
              <a:t>OPENSPACE × AWS  •  PILOT DISCUSSION</a:t>
            </a:r>
          </a:p>
        </p:txBody>
      </p:sp>
      <p:sp>
        <p:nvSpPr>
          <p:cNvPr id="5" name="slide-number-5">
            <a:extLst>
              <a:ext uri="{FF2B5EF4-FFF2-40B4-BE49-F238E27FC236}">
                <a16:creationId xmlns:a16="http://schemas.microsoft.com/office/drawing/2014/main" id="{2B7C0303-B422-4397-8766-F0AE21667952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E6673"/>
                </a:solidFill>
              </a:defRPr>
            </a:pPr>
            <a:r>
              <a:rPr sz="900" b="0">
                <a:solidFill>
                  <a:srgbClr val="5E6673"/>
                </a:solidFill>
              </a:rPr>
              <a:t>05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C00BCDD4-CE23-4789-9FC8-72E705C3DC8D}"/>
              </a:ext>
            </a:extLst>
          </p:cNvPr>
          <p:cNvSpPr>
            <a:spLocks noGrp="1"/>
          </p:cNvSpPr>
          <p:nvPr/>
        </p:nvSpPr>
        <p:spPr>
          <a:xfrm>
            <a:off x="457200" y="1695450"/>
            <a:ext cx="1057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Machine learning and an AI assistant become more useful once the team has stable data, clear questions and agreed access controls.</a:t>
            </a:r>
          </a:p>
        </p:txBody>
      </p:sp>
      <p:sp>
        <p:nvSpPr>
          <p:cNvPr id="7" name="rule">
            <a:extLst>
              <a:ext uri="{FF2B5EF4-FFF2-40B4-BE49-F238E27FC236}">
                <a16:creationId xmlns:a16="http://schemas.microsoft.com/office/drawing/2014/main" id="{64491411-CABE-4181-8E49-E91351C1D726}"/>
              </a:ext>
            </a:extLst>
          </p:cNvPr>
          <p:cNvSpPr>
            <a:spLocks noGrp="1"/>
          </p:cNvSpPr>
          <p:nvPr/>
        </p:nvSpPr>
        <p:spPr>
          <a:xfrm>
            <a:off x="457200" y="3371850"/>
            <a:ext cx="11049000" cy="0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A5B2694-F006-45F9-A611-D108E803D0BA}"/>
              </a:ext>
            </a:extLst>
          </p:cNvPr>
          <p:cNvSpPr>
            <a:spLocks noGrp="1"/>
          </p:cNvSpPr>
          <p:nvPr/>
        </p:nvSpPr>
        <p:spPr>
          <a:xfrm>
            <a:off x="457200" y="3305175"/>
            <a:ext cx="133350" cy="133350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B7A74E8-F676-4AC3-9F68-9B6B22767730}"/>
              </a:ext>
            </a:extLst>
          </p:cNvPr>
          <p:cNvSpPr>
            <a:spLocks noGrp="1"/>
          </p:cNvSpPr>
          <p:nvPr/>
        </p:nvSpPr>
        <p:spPr>
          <a:xfrm>
            <a:off x="4362450" y="3305175"/>
            <a:ext cx="133350" cy="133350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6DB46F8-A60A-451A-B296-7D1E44B694CA}"/>
              </a:ext>
            </a:extLst>
          </p:cNvPr>
          <p:cNvSpPr>
            <a:spLocks noGrp="1"/>
          </p:cNvSpPr>
          <p:nvPr/>
        </p:nvSpPr>
        <p:spPr>
          <a:xfrm>
            <a:off x="8267700" y="3305175"/>
            <a:ext cx="133350" cy="133350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508C42BB-0E77-4C61-B414-C2405DAEBAB1}"/>
              </a:ext>
            </a:extLst>
          </p:cNvPr>
          <p:cNvSpPr>
            <a:spLocks noGrp="1"/>
          </p:cNvSpPr>
          <p:nvPr/>
        </p:nvSpPr>
        <p:spPr>
          <a:xfrm>
            <a:off x="457200" y="27241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13C4CD3A-A406-429C-AF5F-B79E7F78B1DD}"/>
              </a:ext>
            </a:extLst>
          </p:cNvPr>
          <p:cNvSpPr>
            <a:spLocks noGrp="1"/>
          </p:cNvSpPr>
          <p:nvPr/>
        </p:nvSpPr>
        <p:spPr>
          <a:xfrm>
            <a:off x="457200" y="3048000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PREPARE</a:t>
            </a:r>
          </a:p>
        </p:txBody>
      </p:sp>
      <p:sp>
        <p:nvSpPr>
          <p:cNvPr id="13" name="stage-01">
            <a:extLst>
              <a:ext uri="{FF2B5EF4-FFF2-40B4-BE49-F238E27FC236}">
                <a16:creationId xmlns:a16="http://schemas.microsoft.com/office/drawing/2014/main" id="{D2815321-D603-4C8E-A17F-1EAA75AE8C3F}"/>
              </a:ext>
            </a:extLst>
          </p:cNvPr>
          <p:cNvSpPr>
            <a:spLocks noGrp="1"/>
          </p:cNvSpPr>
          <p:nvPr/>
        </p:nvSpPr>
        <p:spPr>
          <a:xfrm>
            <a:off x="457200" y="3695700"/>
            <a:ext cx="3143250" cy="17907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DE22E8ED-03F3-4CE9-80DF-D60788944C43}"/>
              </a:ext>
            </a:extLst>
          </p:cNvPr>
          <p:cNvSpPr>
            <a:spLocks noGrp="1"/>
          </p:cNvSpPr>
          <p:nvPr/>
        </p:nvSpPr>
        <p:spPr>
          <a:xfrm>
            <a:off x="666750" y="3943350"/>
            <a:ext cx="2714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Define the question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5FC09052-499F-4847-A7A1-913DEA5BBDBF}"/>
              </a:ext>
            </a:extLst>
          </p:cNvPr>
          <p:cNvSpPr>
            <a:spLocks noGrp="1"/>
          </p:cNvSpPr>
          <p:nvPr/>
        </p:nvSpPr>
        <p:spPr>
          <a:xfrm>
            <a:off x="666750" y="4457700"/>
            <a:ext cx="27146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E6673"/>
                </a:solidFill>
              </a:defRPr>
            </a:pPr>
            <a:r>
              <a:rPr sz="1275" b="0">
                <a:solidFill>
                  <a:srgbClr val="5E6673"/>
                </a:solidFill>
              </a:rPr>
              <a:t>Clean data, select a target outcome and establish a simple baseline.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21098E3E-2FF0-4F32-B323-846F9149C639}"/>
              </a:ext>
            </a:extLst>
          </p:cNvPr>
          <p:cNvSpPr>
            <a:spLocks noGrp="1"/>
          </p:cNvSpPr>
          <p:nvPr/>
        </p:nvSpPr>
        <p:spPr>
          <a:xfrm>
            <a:off x="4362450" y="27241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1245532F-CC35-4426-81C5-318F0B5065BB}"/>
              </a:ext>
            </a:extLst>
          </p:cNvPr>
          <p:cNvSpPr>
            <a:spLocks noGrp="1"/>
          </p:cNvSpPr>
          <p:nvPr/>
        </p:nvSpPr>
        <p:spPr>
          <a:xfrm>
            <a:off x="4362450" y="3048000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TRAIN</a:t>
            </a:r>
          </a:p>
        </p:txBody>
      </p:sp>
      <p:sp>
        <p:nvSpPr>
          <p:cNvPr id="18" name="stage-02">
            <a:extLst>
              <a:ext uri="{FF2B5EF4-FFF2-40B4-BE49-F238E27FC236}">
                <a16:creationId xmlns:a16="http://schemas.microsoft.com/office/drawing/2014/main" id="{51FAFC98-88C5-47F6-A654-DB4135884095}"/>
              </a:ext>
            </a:extLst>
          </p:cNvPr>
          <p:cNvSpPr>
            <a:spLocks noGrp="1"/>
          </p:cNvSpPr>
          <p:nvPr/>
        </p:nvSpPr>
        <p:spPr>
          <a:xfrm>
            <a:off x="4362450" y="3695700"/>
            <a:ext cx="3143250" cy="17907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9D4252F3-8E90-4FA0-B5EF-95985C8516FA}"/>
              </a:ext>
            </a:extLst>
          </p:cNvPr>
          <p:cNvSpPr>
            <a:spLocks noGrp="1"/>
          </p:cNvSpPr>
          <p:nvPr/>
        </p:nvSpPr>
        <p:spPr>
          <a:xfrm>
            <a:off x="4572000" y="3943350"/>
            <a:ext cx="2714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Evaluate a model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8065C9BF-F8F1-400C-A1FD-FE952EC57BC3}"/>
              </a:ext>
            </a:extLst>
          </p:cNvPr>
          <p:cNvSpPr>
            <a:spLocks noGrp="1"/>
          </p:cNvSpPr>
          <p:nvPr/>
        </p:nvSpPr>
        <p:spPr>
          <a:xfrm>
            <a:off x="4572000" y="4457700"/>
            <a:ext cx="27146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E6673"/>
                </a:solidFill>
              </a:defRPr>
            </a:pPr>
            <a:r>
              <a:rPr sz="1275" b="0">
                <a:solidFill>
                  <a:srgbClr val="5E6673"/>
                </a:solidFill>
              </a:rPr>
              <a:t>Use SageMaker AI for a controlled experiment, then compare results with the baseline.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A0B34C16-F64C-464D-BA50-5240681D504B}"/>
              </a:ext>
            </a:extLst>
          </p:cNvPr>
          <p:cNvSpPr>
            <a:spLocks noGrp="1"/>
          </p:cNvSpPr>
          <p:nvPr/>
        </p:nvSpPr>
        <p:spPr>
          <a:xfrm>
            <a:off x="8267700" y="27241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5BDFF787-3EAF-4F21-9107-847B9F6CFF34}"/>
              </a:ext>
            </a:extLst>
          </p:cNvPr>
          <p:cNvSpPr>
            <a:spLocks noGrp="1"/>
          </p:cNvSpPr>
          <p:nvPr/>
        </p:nvSpPr>
        <p:spPr>
          <a:xfrm>
            <a:off x="8267700" y="3048000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ASSIST</a:t>
            </a:r>
          </a:p>
        </p:txBody>
      </p:sp>
      <p:sp>
        <p:nvSpPr>
          <p:cNvPr id="23" name="stage-03">
            <a:extLst>
              <a:ext uri="{FF2B5EF4-FFF2-40B4-BE49-F238E27FC236}">
                <a16:creationId xmlns:a16="http://schemas.microsoft.com/office/drawing/2014/main" id="{0A56C551-0011-4712-8AFE-1D20FA6819CF}"/>
              </a:ext>
            </a:extLst>
          </p:cNvPr>
          <p:cNvSpPr>
            <a:spLocks noGrp="1"/>
          </p:cNvSpPr>
          <p:nvPr/>
        </p:nvSpPr>
        <p:spPr>
          <a:xfrm>
            <a:off x="8267700" y="3695700"/>
            <a:ext cx="3143250" cy="17907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DEEA7087-426D-40F2-8FB1-9A3C7609ACAB}"/>
              </a:ext>
            </a:extLst>
          </p:cNvPr>
          <p:cNvSpPr>
            <a:spLocks noGrp="1"/>
          </p:cNvSpPr>
          <p:nvPr/>
        </p:nvSpPr>
        <p:spPr>
          <a:xfrm>
            <a:off x="8477250" y="3943350"/>
            <a:ext cx="2714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Explain and query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A98DBD4B-FEF0-4AFB-8849-3847D49EBE3A}"/>
              </a:ext>
            </a:extLst>
          </p:cNvPr>
          <p:cNvSpPr>
            <a:spLocks noGrp="1"/>
          </p:cNvSpPr>
          <p:nvPr/>
        </p:nvSpPr>
        <p:spPr>
          <a:xfrm>
            <a:off x="8477250" y="4457700"/>
            <a:ext cx="27146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E6673"/>
                </a:solidFill>
              </a:defRPr>
            </a:pPr>
            <a:r>
              <a:rPr sz="1275" b="0">
                <a:solidFill>
                  <a:srgbClr val="5E6673"/>
                </a:solidFill>
              </a:rPr>
              <a:t>Use Bedrock through Lambda; add AgentCore only if multi-step orchestration is needed.</a:t>
            </a:r>
          </a:p>
        </p:txBody>
      </p:sp>
    </p:spTree>
    <p:extLst>
      <p:ext uri="{BB962C8B-B14F-4D97-AF65-F5344CB8AC3E}">
        <p14:creationId xmlns:p14="http://schemas.microsoft.com/office/powerpoint/2010/main" val="1121634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yebrow-6">
            <a:extLst>
              <a:ext uri="{FF2B5EF4-FFF2-40B4-BE49-F238E27FC236}">
                <a16:creationId xmlns:a16="http://schemas.microsoft.com/office/drawing/2014/main" id="{85228435-85C2-4FAC-90E4-98B844C6952D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AI ASSISTANT APPROACH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18AFBC57-8D5E-4CE5-9CBA-696D99A8445F}"/>
              </a:ext>
            </a:extLst>
          </p:cNvPr>
          <p:cNvSpPr>
            <a:spLocks noGrp="1"/>
          </p:cNvSpPr>
          <p:nvPr/>
        </p:nvSpPr>
        <p:spPr>
          <a:xfrm>
            <a:off x="457200" y="68580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Start with controlled assistant logic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30033225-92FC-4BB1-B40B-EF44680615AD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label-6">
            <a:extLst>
              <a:ext uri="{FF2B5EF4-FFF2-40B4-BE49-F238E27FC236}">
                <a16:creationId xmlns:a16="http://schemas.microsoft.com/office/drawing/2014/main" id="{F47131CA-BF51-4E34-B086-91AFB7724EEF}"/>
              </a:ext>
            </a:extLst>
          </p:cNvPr>
          <p:cNvSpPr>
            <a:spLocks noGrp="1"/>
          </p:cNvSpPr>
          <p:nvPr/>
        </p:nvSpPr>
        <p:spPr>
          <a:xfrm>
            <a:off x="457200" y="6429375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E6673"/>
                </a:solidFill>
              </a:defRPr>
            </a:pPr>
            <a:r>
              <a:rPr sz="825" b="1">
                <a:solidFill>
                  <a:srgbClr val="5E6673"/>
                </a:solidFill>
              </a:rPr>
              <a:t>OPENSPACE × AWS  •  PILOT DISCUSSION</a:t>
            </a:r>
          </a:p>
        </p:txBody>
      </p:sp>
      <p:sp>
        <p:nvSpPr>
          <p:cNvPr id="5" name="slide-number-6">
            <a:extLst>
              <a:ext uri="{FF2B5EF4-FFF2-40B4-BE49-F238E27FC236}">
                <a16:creationId xmlns:a16="http://schemas.microsoft.com/office/drawing/2014/main" id="{AF2B4C25-E8BE-4285-AB2F-7144D505AD76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E6673"/>
                </a:solidFill>
              </a:defRPr>
            </a:pPr>
            <a:r>
              <a:rPr sz="900" b="0">
                <a:solidFill>
                  <a:srgbClr val="5E6673"/>
                </a:solidFill>
              </a:rPr>
              <a:t>06</a:t>
            </a:r>
          </a:p>
        </p:txBody>
      </p:sp>
      <p:sp>
        <p:nvSpPr>
          <p:cNvPr id="6" name="mvp-choice">
            <a:extLst>
              <a:ext uri="{FF2B5EF4-FFF2-40B4-BE49-F238E27FC236}">
                <a16:creationId xmlns:a16="http://schemas.microsoft.com/office/drawing/2014/main" id="{280F6A4D-3DC9-4ED7-B2AE-2EC7C1DE61E9}"/>
              </a:ext>
            </a:extLst>
          </p:cNvPr>
          <p:cNvSpPr>
            <a:spLocks noGrp="1"/>
          </p:cNvSpPr>
          <p:nvPr/>
        </p:nvSpPr>
        <p:spPr>
          <a:xfrm>
            <a:off x="457200" y="2000250"/>
            <a:ext cx="5143500" cy="3028950"/>
          </a:xfrm>
          <a:prstGeom prst="rect">
            <a:avLst/>
          </a:prstGeom>
          <a:solidFill>
            <a:srgbClr val="E5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B1BAF8F-FF33-42CA-9F0E-57FFCB7B9A7A}"/>
              </a:ext>
            </a:extLst>
          </p:cNvPr>
          <p:cNvSpPr>
            <a:spLocks noGrp="1"/>
          </p:cNvSpPr>
          <p:nvPr/>
        </p:nvSpPr>
        <p:spPr>
          <a:xfrm>
            <a:off x="742950" y="23050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Recommended for the pilot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D06D5D0-A83B-4D47-8EA5-3735C05B112A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Bedrock + Lambda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66D53F8A-19DE-485E-B98E-BCAF9DAE4E8B}"/>
              </a:ext>
            </a:extLst>
          </p:cNvPr>
          <p:cNvSpPr>
            <a:spLocks noGrp="1"/>
          </p:cNvSpPr>
          <p:nvPr/>
        </p:nvSpPr>
        <p:spPr>
          <a:xfrm>
            <a:off x="742950" y="3638550"/>
            <a:ext cx="4286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E6673"/>
                </a:solidFill>
              </a:defRPr>
            </a:pPr>
            <a:r>
              <a:rPr sz="1575" b="0">
                <a:solidFill>
                  <a:srgbClr val="5E6673"/>
                </a:solidFill>
              </a:rPr>
              <a:t>The web application controls the workflow and calls a selected Bedrock model plus approved data tools.</a:t>
            </a:r>
          </a:p>
        </p:txBody>
      </p:sp>
      <p:sp>
        <p:nvSpPr>
          <p:cNvPr id="10" name="advanced-choice">
            <a:extLst>
              <a:ext uri="{FF2B5EF4-FFF2-40B4-BE49-F238E27FC236}">
                <a16:creationId xmlns:a16="http://schemas.microsoft.com/office/drawing/2014/main" id="{99BA7D6C-308B-4262-B9CF-8BB58A862763}"/>
              </a:ext>
            </a:extLst>
          </p:cNvPr>
          <p:cNvSpPr>
            <a:spLocks noGrp="1"/>
          </p:cNvSpPr>
          <p:nvPr/>
        </p:nvSpPr>
        <p:spPr>
          <a:xfrm>
            <a:off x="6057900" y="2000250"/>
            <a:ext cx="5143500" cy="30289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0D969BA7-2FC5-4D35-9926-133D00315AF9}"/>
              </a:ext>
            </a:extLst>
          </p:cNvPr>
          <p:cNvSpPr>
            <a:spLocks noGrp="1"/>
          </p:cNvSpPr>
          <p:nvPr/>
        </p:nvSpPr>
        <p:spPr>
          <a:xfrm>
            <a:off x="6343650" y="23050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E6673"/>
                </a:solidFill>
              </a:defRPr>
            </a:pPr>
            <a:r>
              <a:rPr sz="1350" b="1">
                <a:solidFill>
                  <a:srgbClr val="5E6673"/>
                </a:solidFill>
              </a:rPr>
              <a:t>Option when requirements grow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11C6F3FD-FB72-406B-A1F2-51A2D81A2890}"/>
              </a:ext>
            </a:extLst>
          </p:cNvPr>
          <p:cNvSpPr>
            <a:spLocks noGrp="1"/>
          </p:cNvSpPr>
          <p:nvPr/>
        </p:nvSpPr>
        <p:spPr>
          <a:xfrm>
            <a:off x="6343650" y="285750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Strands + AgentCore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284D6BF5-D3FF-451E-85C6-7F5DB7BBD62A}"/>
              </a:ext>
            </a:extLst>
          </p:cNvPr>
          <p:cNvSpPr>
            <a:spLocks noGrp="1"/>
          </p:cNvSpPr>
          <p:nvPr/>
        </p:nvSpPr>
        <p:spPr>
          <a:xfrm>
            <a:off x="6343650" y="3638550"/>
            <a:ext cx="4286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E6673"/>
                </a:solidFill>
              </a:defRPr>
            </a:pPr>
            <a:r>
              <a:rPr sz="1575" b="0">
                <a:solidFill>
                  <a:srgbClr val="5E6673"/>
                </a:solidFill>
              </a:rPr>
              <a:t>Use managed runtime, tools, identity, memory and monitoring when genuine multi-step agent behaviour is required.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89EBE248-A662-48DB-A20F-FD7C80839288}"/>
              </a:ext>
            </a:extLst>
          </p:cNvPr>
          <p:cNvSpPr>
            <a:spLocks noGrp="1"/>
          </p:cNvSpPr>
          <p:nvPr/>
        </p:nvSpPr>
        <p:spPr>
          <a:xfrm>
            <a:off x="457200" y="5476875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Bedrock Agents Classic is in maintenance mode and is not open to new customers from 30 July 2026.</a:t>
            </a:r>
          </a:p>
        </p:txBody>
      </p:sp>
    </p:spTree>
    <p:extLst>
      <p:ext uri="{BB962C8B-B14F-4D97-AF65-F5344CB8AC3E}">
        <p14:creationId xmlns:p14="http://schemas.microsoft.com/office/powerpoint/2010/main" val="1743987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yebrow-7">
            <a:extLst>
              <a:ext uri="{FF2B5EF4-FFF2-40B4-BE49-F238E27FC236}">
                <a16:creationId xmlns:a16="http://schemas.microsoft.com/office/drawing/2014/main" id="{116732E4-1327-4D11-B870-F23B747A4E9C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STUDENT-SCALE FEASIBILITY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A012D41A-FF89-4F8C-B961-BACD519BAB56}"/>
              </a:ext>
            </a:extLst>
          </p:cNvPr>
          <p:cNvSpPr>
            <a:spLocks noGrp="1"/>
          </p:cNvSpPr>
          <p:nvPr/>
        </p:nvSpPr>
        <p:spPr>
          <a:xfrm>
            <a:off x="457200" y="68580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Message discipline keeps the pilot low-cost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961CF9D1-2452-4E19-B9E0-D8758DCE36B2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label-7">
            <a:extLst>
              <a:ext uri="{FF2B5EF4-FFF2-40B4-BE49-F238E27FC236}">
                <a16:creationId xmlns:a16="http://schemas.microsoft.com/office/drawing/2014/main" id="{113A6CF1-6AB9-473C-82EA-66436F71E85E}"/>
              </a:ext>
            </a:extLst>
          </p:cNvPr>
          <p:cNvSpPr>
            <a:spLocks noGrp="1"/>
          </p:cNvSpPr>
          <p:nvPr/>
        </p:nvSpPr>
        <p:spPr>
          <a:xfrm>
            <a:off x="457200" y="6429375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E6673"/>
                </a:solidFill>
              </a:defRPr>
            </a:pPr>
            <a:r>
              <a:rPr sz="825" b="1">
                <a:solidFill>
                  <a:srgbClr val="5E6673"/>
                </a:solidFill>
              </a:rPr>
              <a:t>OPENSPACE × AWS  •  PILOT DISCUSSION</a:t>
            </a:r>
          </a:p>
        </p:txBody>
      </p:sp>
      <p:sp>
        <p:nvSpPr>
          <p:cNvPr id="5" name="slide-number-7">
            <a:extLst>
              <a:ext uri="{FF2B5EF4-FFF2-40B4-BE49-F238E27FC236}">
                <a16:creationId xmlns:a16="http://schemas.microsoft.com/office/drawing/2014/main" id="{7C2B766B-EEE5-4961-9B51-FD8BCCEE9E4E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E6673"/>
                </a:solidFill>
              </a:defRPr>
            </a:pPr>
            <a:r>
              <a:rPr sz="900" b="0">
                <a:solidFill>
                  <a:srgbClr val="5E6673"/>
                </a:solidFill>
              </a:rPr>
              <a:t>07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286BE353-5A23-4838-B24E-A47120A99DF5}"/>
              </a:ext>
            </a:extLst>
          </p:cNvPr>
          <p:cNvSpPr>
            <a:spLocks noGrp="1"/>
          </p:cNvSpPr>
          <p:nvPr/>
        </p:nvSpPr>
        <p:spPr>
          <a:xfrm>
            <a:off x="457200" y="169545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Illustrative AWS IoT Core examples — final figures depend on region, account eligibility and actual usage.</a:t>
            </a:r>
          </a:p>
        </p:txBody>
      </p:sp>
      <p:sp>
        <p:nvSpPr>
          <p:cNvPr id="7" name="metric-24/7 connection">
            <a:extLst>
              <a:ext uri="{FF2B5EF4-FFF2-40B4-BE49-F238E27FC236}">
                <a16:creationId xmlns:a16="http://schemas.microsoft.com/office/drawing/2014/main" id="{EBBC23B2-830C-4061-B682-19C8BA8B7A7C}"/>
              </a:ext>
            </a:extLst>
          </p:cNvPr>
          <p:cNvSpPr>
            <a:spLocks noGrp="1"/>
          </p:cNvSpPr>
          <p:nvPr/>
        </p:nvSpPr>
        <p:spPr>
          <a:xfrm>
            <a:off x="457200" y="2266950"/>
            <a:ext cx="3333750" cy="27241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3119B62D-AB77-4BD9-92AA-9A307014EA07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285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900" b="1">
                <a:solidFill>
                  <a:srgbClr val="3D8DFF"/>
                </a:solidFill>
              </a:defRPr>
            </a:pPr>
            <a:r>
              <a:rPr sz="3900" b="1">
                <a:solidFill>
                  <a:srgbClr val="3D8DFF"/>
                </a:solidFill>
              </a:rPr>
              <a:t>US$0.042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A2B950D-62DB-432F-8375-B168453A7F6E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24/7 connection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6CCA9EE7-5113-47B8-BA5D-21C98586134C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E6673"/>
                </a:solidFill>
              </a:defRPr>
            </a:pPr>
            <a:r>
              <a:rPr sz="1275" b="0">
                <a:solidFill>
                  <a:srgbClr val="5E6673"/>
                </a:solidFill>
              </a:rPr>
              <a:t>Approximate annual connectivity cost for one device in the AWS N. Virginia example.</a:t>
            </a:r>
          </a:p>
        </p:txBody>
      </p:sp>
      <p:sp>
        <p:nvSpPr>
          <p:cNvPr id="11" name="metric-messages / month">
            <a:extLst>
              <a:ext uri="{FF2B5EF4-FFF2-40B4-BE49-F238E27FC236}">
                <a16:creationId xmlns:a16="http://schemas.microsoft.com/office/drawing/2014/main" id="{0A2C8842-52F7-4B8F-9026-43F267540E38}"/>
              </a:ext>
            </a:extLst>
          </p:cNvPr>
          <p:cNvSpPr>
            <a:spLocks noGrp="1"/>
          </p:cNvSpPr>
          <p:nvPr/>
        </p:nvSpPr>
        <p:spPr>
          <a:xfrm>
            <a:off x="4219575" y="2266950"/>
            <a:ext cx="3333750" cy="27241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F1B00F4D-7F93-49E7-898C-E93264AA9C12}"/>
              </a:ext>
            </a:extLst>
          </p:cNvPr>
          <p:cNvSpPr>
            <a:spLocks noGrp="1"/>
          </p:cNvSpPr>
          <p:nvPr/>
        </p:nvSpPr>
        <p:spPr>
          <a:xfrm>
            <a:off x="4448175" y="2571750"/>
            <a:ext cx="285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900" b="1">
                <a:solidFill>
                  <a:srgbClr val="3D8DFF"/>
                </a:solidFill>
              </a:defRPr>
            </a:pPr>
            <a:r>
              <a:rPr sz="3900" b="1">
                <a:solidFill>
                  <a:srgbClr val="3D8DFF"/>
                </a:solidFill>
              </a:rPr>
              <a:t>259,200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DCF1BE29-BA8A-4315-AF14-B6A08E58F357}"/>
              </a:ext>
            </a:extLst>
          </p:cNvPr>
          <p:cNvSpPr>
            <a:spLocks noGrp="1"/>
          </p:cNvSpPr>
          <p:nvPr/>
        </p:nvSpPr>
        <p:spPr>
          <a:xfrm>
            <a:off x="4448175" y="342900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messages / month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30F5BDFA-C5CC-4CF3-B543-E44E216E8854}"/>
              </a:ext>
            </a:extLst>
          </p:cNvPr>
          <p:cNvSpPr>
            <a:spLocks noGrp="1"/>
          </p:cNvSpPr>
          <p:nvPr/>
        </p:nvSpPr>
        <p:spPr>
          <a:xfrm>
            <a:off x="4448175" y="4057650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E6673"/>
                </a:solidFill>
              </a:defRPr>
            </a:pPr>
            <a:r>
              <a:rPr sz="1275" b="0">
                <a:solidFill>
                  <a:srgbClr val="5E6673"/>
                </a:solidFill>
              </a:rPr>
              <a:t>One combined message every 10 seconds in a 30-day month.</a:t>
            </a:r>
          </a:p>
        </p:txBody>
      </p:sp>
      <p:sp>
        <p:nvSpPr>
          <p:cNvPr id="15" name="metric-baseline messaging">
            <a:extLst>
              <a:ext uri="{FF2B5EF4-FFF2-40B4-BE49-F238E27FC236}">
                <a16:creationId xmlns:a16="http://schemas.microsoft.com/office/drawing/2014/main" id="{8FD93F44-CA8C-40E3-AA2E-42F3BFF01884}"/>
              </a:ext>
            </a:extLst>
          </p:cNvPr>
          <p:cNvSpPr>
            <a:spLocks noGrp="1"/>
          </p:cNvSpPr>
          <p:nvPr/>
        </p:nvSpPr>
        <p:spPr>
          <a:xfrm>
            <a:off x="7981950" y="2266950"/>
            <a:ext cx="3333750" cy="27241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BE297FD2-18EA-4F36-86FF-886EC86F104E}"/>
              </a:ext>
            </a:extLst>
          </p:cNvPr>
          <p:cNvSpPr>
            <a:spLocks noGrp="1"/>
          </p:cNvSpPr>
          <p:nvPr/>
        </p:nvSpPr>
        <p:spPr>
          <a:xfrm>
            <a:off x="8210550" y="2571750"/>
            <a:ext cx="285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900" b="1">
                <a:solidFill>
                  <a:srgbClr val="3D8DFF"/>
                </a:solidFill>
              </a:defRPr>
            </a:pPr>
            <a:r>
              <a:rPr sz="3900" b="1">
                <a:solidFill>
                  <a:srgbClr val="3D8DFF"/>
                </a:solidFill>
              </a:rPr>
              <a:t>≈ US$0.26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5FD589FB-936D-43B4-A9C3-517353303FAE}"/>
              </a:ext>
            </a:extLst>
          </p:cNvPr>
          <p:cNvSpPr>
            <a:spLocks noGrp="1"/>
          </p:cNvSpPr>
          <p:nvPr/>
        </p:nvSpPr>
        <p:spPr>
          <a:xfrm>
            <a:off x="8210550" y="342900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baseline messaging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35929BAC-F17A-45CA-823A-D7187D8481FA}"/>
              </a:ext>
            </a:extLst>
          </p:cNvPr>
          <p:cNvSpPr>
            <a:spLocks noGrp="1"/>
          </p:cNvSpPr>
          <p:nvPr/>
        </p:nvSpPr>
        <p:spPr>
          <a:xfrm>
            <a:off x="8210550" y="4057650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E6673"/>
                </a:solidFill>
              </a:defRPr>
            </a:pPr>
            <a:r>
              <a:rPr sz="1275" b="0">
                <a:solidFill>
                  <a:srgbClr val="5E6673"/>
                </a:solidFill>
              </a:rPr>
              <a:t>At a US$1 per million example rate, before eligible free allowance.</a:t>
            </a:r>
          </a:p>
        </p:txBody>
      </p:sp>
      <p:sp>
        <p:nvSpPr>
          <p:cNvPr id="19" name="cost-controls">
            <a:extLst>
              <a:ext uri="{FF2B5EF4-FFF2-40B4-BE49-F238E27FC236}">
                <a16:creationId xmlns:a16="http://schemas.microsoft.com/office/drawing/2014/main" id="{2D2D7F5B-DC95-41E5-B424-CA9B0ED4F0AB}"/>
              </a:ext>
            </a:extLst>
          </p:cNvPr>
          <p:cNvSpPr>
            <a:spLocks noGrp="1"/>
          </p:cNvSpPr>
          <p:nvPr/>
        </p:nvSpPr>
        <p:spPr>
          <a:xfrm>
            <a:off x="457200" y="5257800"/>
            <a:ext cx="10858500" cy="742950"/>
          </a:xfrm>
          <a:prstGeom prst="rect">
            <a:avLst/>
          </a:prstGeom>
          <a:solidFill>
            <a:srgbClr val="E5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0DF56644-B48F-425E-A144-226102E38CCD}"/>
              </a:ext>
            </a:extLst>
          </p:cNvPr>
          <p:cNvSpPr>
            <a:spLocks noGrp="1"/>
          </p:cNvSpPr>
          <p:nvPr/>
        </p:nvSpPr>
        <p:spPr>
          <a:xfrm>
            <a:off x="704850" y="5495925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Controls: aggregate readings  •  use Basic Ingest where suitable  •  stop idle SageMaker resources  •  set AWS Budgets</a:t>
            </a:r>
          </a:p>
        </p:txBody>
      </p:sp>
    </p:spTree>
    <p:extLst>
      <p:ext uri="{BB962C8B-B14F-4D97-AF65-F5344CB8AC3E}">
        <p14:creationId xmlns:p14="http://schemas.microsoft.com/office/powerpoint/2010/main" val="764672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yebrow-8">
            <a:extLst>
              <a:ext uri="{FF2B5EF4-FFF2-40B4-BE49-F238E27FC236}">
                <a16:creationId xmlns:a16="http://schemas.microsoft.com/office/drawing/2014/main" id="{CAA09A0B-9B34-42D4-B2E3-D9092B69F474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DISCUSSION WITH AWS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B48F9AEC-8EA8-4A0C-8D99-43BA9672C821}"/>
              </a:ext>
            </a:extLst>
          </p:cNvPr>
          <p:cNvSpPr>
            <a:spLocks noGrp="1"/>
          </p:cNvSpPr>
          <p:nvPr/>
        </p:nvSpPr>
        <p:spPr>
          <a:xfrm>
            <a:off x="457200" y="68580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Agree the pilot pathway—not the final architecture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F3062E65-2940-447A-910E-FE0575A203BC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104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label-8">
            <a:extLst>
              <a:ext uri="{FF2B5EF4-FFF2-40B4-BE49-F238E27FC236}">
                <a16:creationId xmlns:a16="http://schemas.microsoft.com/office/drawing/2014/main" id="{340C46DC-8F55-4124-8869-E45C6B7695E1}"/>
              </a:ext>
            </a:extLst>
          </p:cNvPr>
          <p:cNvSpPr>
            <a:spLocks noGrp="1"/>
          </p:cNvSpPr>
          <p:nvPr/>
        </p:nvSpPr>
        <p:spPr>
          <a:xfrm>
            <a:off x="457200" y="6429375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E6673"/>
                </a:solidFill>
              </a:defRPr>
            </a:pPr>
            <a:r>
              <a:rPr sz="825" b="1">
                <a:solidFill>
                  <a:srgbClr val="5E6673"/>
                </a:solidFill>
              </a:rPr>
              <a:t>OPENSPACE × AWS  •  PILOT DISCUSSION</a:t>
            </a:r>
          </a:p>
        </p:txBody>
      </p:sp>
      <p:sp>
        <p:nvSpPr>
          <p:cNvPr id="5" name="slide-number-8">
            <a:extLst>
              <a:ext uri="{FF2B5EF4-FFF2-40B4-BE49-F238E27FC236}">
                <a16:creationId xmlns:a16="http://schemas.microsoft.com/office/drawing/2014/main" id="{6303B187-FC4E-4BEB-8F6D-AE427DE2427B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E6673"/>
                </a:solidFill>
              </a:defRPr>
            </a:pPr>
            <a:r>
              <a:rPr sz="900" b="0">
                <a:solidFill>
                  <a:srgbClr val="5E6673"/>
                </a:solidFill>
              </a:rPr>
              <a:t>08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1AF3826-B079-49E0-B980-68DF239E8B40}"/>
              </a:ext>
            </a:extLst>
          </p:cNvPr>
          <p:cNvSpPr>
            <a:spLocks noGrp="1"/>
          </p:cNvSpPr>
          <p:nvPr/>
        </p:nvSpPr>
        <p:spPr>
          <a:xfrm>
            <a:off x="495300" y="188595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1B35DE9-4A66-42D8-BE99-23505E537D15}"/>
              </a:ext>
            </a:extLst>
          </p:cNvPr>
          <p:cNvSpPr>
            <a:spLocks noGrp="1"/>
          </p:cNvSpPr>
          <p:nvPr/>
        </p:nvSpPr>
        <p:spPr>
          <a:xfrm>
            <a:off x="1238250" y="180975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Architecture review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B724C0F-0E8D-4B0F-AB6F-55C5030BA4AD}"/>
              </a:ext>
            </a:extLst>
          </p:cNvPr>
          <p:cNvSpPr>
            <a:spLocks noGrp="1"/>
          </p:cNvSpPr>
          <p:nvPr/>
        </p:nvSpPr>
        <p:spPr>
          <a:xfrm>
            <a:off x="4476750" y="1828800"/>
            <a:ext cx="685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E6673"/>
                </a:solidFill>
              </a:defRPr>
            </a:pPr>
            <a:r>
              <a:rPr sz="1425" b="0">
                <a:solidFill>
                  <a:srgbClr val="5E6673"/>
                </a:solidFill>
              </a:rPr>
              <a:t>Validate the staged IoT → data → API → intelligence pathway.</a:t>
            </a:r>
          </a:p>
        </p:txBody>
      </p:sp>
      <p:sp>
        <p:nvSpPr>
          <p:cNvPr id="9" name="rule">
            <a:extLst>
              <a:ext uri="{FF2B5EF4-FFF2-40B4-BE49-F238E27FC236}">
                <a16:creationId xmlns:a16="http://schemas.microsoft.com/office/drawing/2014/main" id="{EDF7AB75-EF67-4666-B325-421AD3DA50D0}"/>
              </a:ext>
            </a:extLst>
          </p:cNvPr>
          <p:cNvSpPr>
            <a:spLocks noGrp="1"/>
          </p:cNvSpPr>
          <p:nvPr/>
        </p:nvSpPr>
        <p:spPr>
          <a:xfrm>
            <a:off x="457200" y="2457450"/>
            <a:ext cx="108585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78B208D-1E9D-4177-9E97-C22AF7806496}"/>
              </a:ext>
            </a:extLst>
          </p:cNvPr>
          <p:cNvSpPr>
            <a:spLocks noGrp="1"/>
          </p:cNvSpPr>
          <p:nvPr/>
        </p:nvSpPr>
        <p:spPr>
          <a:xfrm>
            <a:off x="495300" y="276225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FD22B2C6-42C2-4967-8DEC-6AB69830598C}"/>
              </a:ext>
            </a:extLst>
          </p:cNvPr>
          <p:cNvSpPr>
            <a:spLocks noGrp="1"/>
          </p:cNvSpPr>
          <p:nvPr/>
        </p:nvSpPr>
        <p:spPr>
          <a:xfrm>
            <a:off x="1238250" y="268605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Pilot support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45712D58-87CC-499D-8191-D36CF70C8F6E}"/>
              </a:ext>
            </a:extLst>
          </p:cNvPr>
          <p:cNvSpPr>
            <a:spLocks noGrp="1"/>
          </p:cNvSpPr>
          <p:nvPr/>
        </p:nvSpPr>
        <p:spPr>
          <a:xfrm>
            <a:off x="4476750" y="2705100"/>
            <a:ext cx="685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E6673"/>
                </a:solidFill>
              </a:defRPr>
            </a:pPr>
            <a:r>
              <a:rPr sz="1425" b="0">
                <a:solidFill>
                  <a:srgbClr val="5E6673"/>
                </a:solidFill>
              </a:rPr>
              <a:t>Clarify credits, sponsorship, solution-architect access and technical workshops.</a:t>
            </a:r>
          </a:p>
        </p:txBody>
      </p:sp>
      <p:sp>
        <p:nvSpPr>
          <p:cNvPr id="13" name="rule">
            <a:extLst>
              <a:ext uri="{FF2B5EF4-FFF2-40B4-BE49-F238E27FC236}">
                <a16:creationId xmlns:a16="http://schemas.microsoft.com/office/drawing/2014/main" id="{949F9C88-8FAF-479F-B707-E15D1282DA10}"/>
              </a:ext>
            </a:extLst>
          </p:cNvPr>
          <p:cNvSpPr>
            <a:spLocks noGrp="1"/>
          </p:cNvSpPr>
          <p:nvPr/>
        </p:nvSpPr>
        <p:spPr>
          <a:xfrm>
            <a:off x="457200" y="3333750"/>
            <a:ext cx="108585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A7F63A1F-A0A4-49D7-AC9C-3DAA903E71E4}"/>
              </a:ext>
            </a:extLst>
          </p:cNvPr>
          <p:cNvSpPr>
            <a:spLocks noGrp="1"/>
          </p:cNvSpPr>
          <p:nvPr/>
        </p:nvSpPr>
        <p:spPr>
          <a:xfrm>
            <a:off x="495300" y="363855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5314DFC4-F0D9-4CB1-934F-6610F3262F02}"/>
              </a:ext>
            </a:extLst>
          </p:cNvPr>
          <p:cNvSpPr>
            <a:spLocks noGrp="1"/>
          </p:cNvSpPr>
          <p:nvPr/>
        </p:nvSpPr>
        <p:spPr>
          <a:xfrm>
            <a:off x="1238250" y="356235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Governance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58BD4506-9397-4709-8C0D-C7951714BAFE}"/>
              </a:ext>
            </a:extLst>
          </p:cNvPr>
          <p:cNvSpPr>
            <a:spLocks noGrp="1"/>
          </p:cNvSpPr>
          <p:nvPr/>
        </p:nvSpPr>
        <p:spPr>
          <a:xfrm>
            <a:off x="4476750" y="3581400"/>
            <a:ext cx="685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E6673"/>
                </a:solidFill>
              </a:defRPr>
            </a:pPr>
            <a:r>
              <a:rPr sz="1425" b="0" dirty="0">
                <a:solidFill>
                  <a:srgbClr val="5E6673"/>
                </a:solidFill>
              </a:rPr>
              <a:t>Agree security, data ownership, account structure and responsible-AI expectations.</a:t>
            </a:r>
          </a:p>
        </p:txBody>
      </p:sp>
      <p:sp>
        <p:nvSpPr>
          <p:cNvPr id="17" name="rule">
            <a:extLst>
              <a:ext uri="{FF2B5EF4-FFF2-40B4-BE49-F238E27FC236}">
                <a16:creationId xmlns:a16="http://schemas.microsoft.com/office/drawing/2014/main" id="{B4EFC92F-FD1B-46FF-BFB4-834C758F4F44}"/>
              </a:ext>
            </a:extLst>
          </p:cNvPr>
          <p:cNvSpPr>
            <a:spLocks noGrp="1"/>
          </p:cNvSpPr>
          <p:nvPr/>
        </p:nvSpPr>
        <p:spPr>
          <a:xfrm>
            <a:off x="457200" y="4210050"/>
            <a:ext cx="108585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BB21D690-EB7D-4838-9473-4FCDA00228AC}"/>
              </a:ext>
            </a:extLst>
          </p:cNvPr>
          <p:cNvSpPr>
            <a:spLocks noGrp="1"/>
          </p:cNvSpPr>
          <p:nvPr/>
        </p:nvSpPr>
        <p:spPr>
          <a:xfrm>
            <a:off x="495300" y="451485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9083FA06-B034-45BA-8EFD-98C2A52094F5}"/>
              </a:ext>
            </a:extLst>
          </p:cNvPr>
          <p:cNvSpPr>
            <a:spLocks noGrp="1"/>
          </p:cNvSpPr>
          <p:nvPr/>
        </p:nvSpPr>
        <p:spPr>
          <a:xfrm>
            <a:off x="1238250" y="443865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Next milestone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C9EB6AD0-5CBB-45E0-8F6F-C0EA2E7A2E09}"/>
              </a:ext>
            </a:extLst>
          </p:cNvPr>
          <p:cNvSpPr>
            <a:spLocks noGrp="1"/>
          </p:cNvSpPr>
          <p:nvPr/>
        </p:nvSpPr>
        <p:spPr>
          <a:xfrm>
            <a:off x="4476750" y="4457700"/>
            <a:ext cx="685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E6673"/>
                </a:solidFill>
              </a:defRPr>
            </a:pPr>
            <a:r>
              <a:rPr sz="1425" b="0">
                <a:solidFill>
                  <a:srgbClr val="5E6673"/>
                </a:solidFill>
              </a:rPr>
              <a:t>Nominate contacts and define a small proof-of-concept with measurable success criteria.</a:t>
            </a:r>
          </a:p>
        </p:txBody>
      </p:sp>
      <p:sp>
        <p:nvSpPr>
          <p:cNvPr id="21" name="rule">
            <a:extLst>
              <a:ext uri="{FF2B5EF4-FFF2-40B4-BE49-F238E27FC236}">
                <a16:creationId xmlns:a16="http://schemas.microsoft.com/office/drawing/2014/main" id="{E5ACAB6B-5113-4798-8A8B-A25A4F5BD9BE}"/>
              </a:ext>
            </a:extLst>
          </p:cNvPr>
          <p:cNvSpPr>
            <a:spLocks noGrp="1"/>
          </p:cNvSpPr>
          <p:nvPr/>
        </p:nvSpPr>
        <p:spPr>
          <a:xfrm>
            <a:off x="457200" y="5086350"/>
            <a:ext cx="108585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decision-strip">
            <a:extLst>
              <a:ext uri="{FF2B5EF4-FFF2-40B4-BE49-F238E27FC236}">
                <a16:creationId xmlns:a16="http://schemas.microsoft.com/office/drawing/2014/main" id="{6EE06E02-0DC9-4E99-BF3C-C09646FE546F}"/>
              </a:ext>
            </a:extLst>
          </p:cNvPr>
          <p:cNvSpPr>
            <a:spLocks noGrp="1"/>
          </p:cNvSpPr>
          <p:nvPr/>
        </p:nvSpPr>
        <p:spPr>
          <a:xfrm>
            <a:off x="457200" y="5476875"/>
            <a:ext cx="10858500" cy="628650"/>
          </a:xfrm>
          <a:prstGeom prst="rect">
            <a:avLst/>
          </a:prstGeom>
          <a:solidFill>
            <a:srgbClr val="E5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F7AF9B06-FB9B-4EFB-9105-46597220110F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Proposed outcome: recognise OpenSpace as the pilot, confirm Dr. Julia as programme lead, and schedule the technical scoping workshop.</a:t>
            </a:r>
          </a:p>
        </p:txBody>
      </p:sp>
    </p:spTree>
    <p:extLst>
      <p:ext uri="{BB962C8B-B14F-4D97-AF65-F5344CB8AC3E}">
        <p14:creationId xmlns:p14="http://schemas.microsoft.com/office/powerpoint/2010/main" val="12840476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677</Words>
  <Application>Microsoft Macintosh PowerPoint</Application>
  <DocSecurity>0</DocSecurity>
  <PresentationFormat>Widescreen</PresentationFormat>
  <Paragraphs>115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. Hein Myat Thu</cp:lastModifiedBy>
  <cp:revision>1</cp:revision>
  <dcterms:created xsi:type="dcterms:W3CDTF">2026-08-16T06:42:06Z</dcterms:created>
  <dcterms:modified xsi:type="dcterms:W3CDTF">2026-08-16T06:48:54Z</dcterms:modified>
</cp:coreProperties>
</file>